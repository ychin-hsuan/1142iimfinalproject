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11E1B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9144" cy="5143500"/>
          </a:xfrm>
          <a:prstGeom prst="rect">
            <a:avLst/>
          </a:prstGeom>
          <a:solidFill>
            <a:srgbClr val="2D292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274320"/>
            <a:ext cx="1645920" cy="164592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3200400"/>
            <a:ext cx="914400" cy="9144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457200"/>
            <a:ext cx="2286000" cy="1097280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5303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12280" y="11887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系訂必修學分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20840" y="1737360"/>
            <a:ext cx="2286000" cy="1097280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8105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12280" y="24688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系選修門檻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3017520"/>
            <a:ext cx="2286000" cy="1097280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09067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37490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畢業總學分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6400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畢業初審系統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384048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AUDIT SYSTEM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5669280" cy="0"/>
          </a:xfrm>
          <a:prstGeom prst="line">
            <a:avLst/>
          </a:prstGeom>
          <a:noFill/>
          <a:ln w="6350">
            <a:solidFill>
              <a:srgbClr val="2D29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06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長庚大學 資訊管理學系  |  114 入學版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B1344061 王馨卉  ·  B1344062 楊沁璇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6492240" cy="434340"/>
          </a:xfrm>
          <a:prstGeom prst="rect">
            <a:avLst/>
          </a:prstGeom>
          <a:solidFill>
            <a:srgbClr val="211E1B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47365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資訊管理導論  ·  期末專題報告  ·  Powered by Notion API  ·  Streamlit  · 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4048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8229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447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研究背景及動機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50592"/>
            <a:ext cx="4114800" cy="8229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450592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2374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技術綜述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529584"/>
            <a:ext cx="4114800" cy="8229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29584"/>
            <a:ext cx="54864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6027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6210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實作與成果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4114800" cy="8229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37160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4447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遭遇困難與解決方案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450592"/>
            <a:ext cx="4114800" cy="8229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450592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52374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32120" y="254203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529584"/>
            <a:ext cx="4114800" cy="8229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529584"/>
            <a:ext cx="54864" cy="82296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6027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36210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研究背景及動機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問題痛點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3931920" cy="0"/>
          </a:xfrm>
          <a:prstGeom prst="line">
            <a:avLst/>
          </a:prstGeom>
          <a:noFill/>
          <a:ln w="6350">
            <a:solidFill>
              <a:srgbClr val="2D29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8988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5331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畢業審查規則複雜，涵蓋必修、管院共構、各領域選修上限等多項條件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482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學生難以即時掌握自身學分達成狀況，常在大四才發現缺修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人工審核耗費教師大量時間，且容易因人為疏忽產生錯誤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381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不同學年度入學的學分規則不同，版本管理困難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749040" cy="640080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27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Notion API 串接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783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自動讀取修課紀錄，不需手動輸入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21992"/>
            <a:ext cx="3749040" cy="640080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86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即時學分比對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542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114 入學版規則即時計算達成率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980944"/>
            <a:ext cx="3749040" cy="640080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044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選課建議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3009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依缺修狀況智慧推薦適合課程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739896"/>
            <a:ext cx="3749040" cy="640080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803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視覺化儀表板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0599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進度條、圓餅圖一目了然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技術綜述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2057400" cy="384048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914400"/>
            <a:ext cx="2057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" y="1143000"/>
            <a:ext cx="1280160" cy="292608"/>
          </a:xfrm>
          <a:prstGeom prst="rect">
            <a:avLst/>
          </a:prstGeom>
          <a:solidFill>
            <a:srgbClr val="2563EB">
              <a:alpha val="18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43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1691640" cy="0"/>
          </a:xfrm>
          <a:prstGeom prst="line">
            <a:avLst/>
          </a:prstGeom>
          <a:noFill/>
          <a:ln w="6350">
            <a:solidFill>
              <a:srgbClr val="2D29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212848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579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Python-based Web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615184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多頁面應用架構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017520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62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 主題設計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419856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649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 整合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914400"/>
            <a:ext cx="2057400" cy="384048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914400"/>
            <a:ext cx="20574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2532888" y="1143000"/>
            <a:ext cx="1280160" cy="292608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1143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1460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API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606040" y="2084832"/>
            <a:ext cx="1691640" cy="0"/>
          </a:xfrm>
          <a:prstGeom prst="line">
            <a:avLst/>
          </a:prstGeom>
          <a:noFill/>
          <a:ln w="6350">
            <a:solidFill>
              <a:srgbClr val="2D29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87752" y="2212848"/>
            <a:ext cx="548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2697480" y="21579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 查詢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87752" y="2615184"/>
            <a:ext cx="548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Relation 欄位串接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87752" y="3017520"/>
            <a:ext cx="548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2962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Rollup 學分讀取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87752" y="3419856"/>
            <a:ext cx="5486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2697480" y="33649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快取機制優化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914400"/>
            <a:ext cx="2057400" cy="384048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914400"/>
            <a:ext cx="20574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1143000"/>
            <a:ext cx="1280160" cy="292608"/>
          </a:xfrm>
          <a:prstGeom prst="rect">
            <a:avLst/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143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核心邏輯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846320" y="2084832"/>
            <a:ext cx="1691640" cy="0"/>
          </a:xfrm>
          <a:prstGeom prst="line">
            <a:avLst/>
          </a:prstGeom>
          <a:noFill/>
          <a:ln w="6350">
            <a:solidFill>
              <a:srgbClr val="2D29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2212848"/>
            <a:ext cx="54864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21579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學分比對演算法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28032" y="2615184"/>
            <a:ext cx="54864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畢業規則模組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28032" y="3017520"/>
            <a:ext cx="54864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2962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指修條件判斷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3419856"/>
            <a:ext cx="54864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3649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資料清洗處理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914400"/>
            <a:ext cx="2057400" cy="384048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914400"/>
            <a:ext cx="20574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Shape 48"/>
          <p:cNvSpPr/>
          <p:nvPr/>
        </p:nvSpPr>
        <p:spPr>
          <a:xfrm>
            <a:off x="7013448" y="1143000"/>
            <a:ext cx="1280160" cy="292608"/>
          </a:xfrm>
          <a:prstGeom prst="rect">
            <a:avLst/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13448" y="1143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功能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086600" y="2084832"/>
            <a:ext cx="1691640" cy="0"/>
          </a:xfrm>
          <a:prstGeom prst="line">
            <a:avLst/>
          </a:prstGeom>
          <a:noFill/>
          <a:ln w="6350">
            <a:solidFill>
              <a:srgbClr val="2D29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68312" y="2212848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7178040" y="21579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選課建議生成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68312" y="2615184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7178040" y="25603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缺修分析推薦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68312" y="3017520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9" name="Text 57"/>
          <p:cNvSpPr/>
          <p:nvPr/>
        </p:nvSpPr>
        <p:spPr>
          <a:xfrm>
            <a:off x="7178040" y="2962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自然語言對話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68312" y="3419856"/>
            <a:ext cx="54864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1" name="Text 59"/>
          <p:cNvSpPr/>
          <p:nvPr/>
        </p:nvSpPr>
        <p:spPr>
          <a:xfrm>
            <a:off x="7178040" y="33649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個人化建議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solidFill>
            <a:srgbClr val="211E1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前端層 — Streamlit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463040" cy="457200"/>
          </a:xfrm>
          <a:prstGeom prst="rect">
            <a:avLst/>
          </a:prstGeom>
          <a:solidFill>
            <a:srgbClr val="2563EB">
              <a:alpha val="18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417320"/>
            <a:ext cx="1463040" cy="457200"/>
          </a:xfrm>
          <a:prstGeom prst="rect">
            <a:avLst/>
          </a:prstGeom>
          <a:solidFill>
            <a:srgbClr val="2563EB">
              <a:alpha val="18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畢業進度儀表板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417320"/>
            <a:ext cx="1463040" cy="457200"/>
          </a:xfrm>
          <a:prstGeom prst="rect">
            <a:avLst/>
          </a:prstGeom>
          <a:solidFill>
            <a:srgbClr val="2563EB">
              <a:alpha val="18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修課明細查詢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1417320"/>
            <a:ext cx="1463040" cy="457200"/>
          </a:xfrm>
          <a:prstGeom prst="rect">
            <a:avLst/>
          </a:prstGeom>
          <a:solidFill>
            <a:srgbClr val="2563EB">
              <a:alpha val="18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選課顧問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417320"/>
            <a:ext cx="1463040" cy="457200"/>
          </a:xfrm>
          <a:prstGeom prst="rect">
            <a:avLst/>
          </a:prstGeom>
          <a:solidFill>
            <a:srgbClr val="2563EB">
              <a:alpha val="18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模擬選課規劃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0" cy="365760"/>
          </a:xfrm>
          <a:prstGeom prst="line">
            <a:avLst/>
          </a:prstGeom>
          <a:noFill/>
          <a:ln w="12700">
            <a:solidFill>
              <a:srgbClr val="2D29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77440"/>
            <a:ext cx="8595360" cy="1005840"/>
          </a:xfrm>
          <a:prstGeom prst="rect">
            <a:avLst/>
          </a:prstGeom>
          <a:solidFill>
            <a:srgbClr val="211E1B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邏輯層 — Python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1463040" cy="457200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學分比對引擎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2788920"/>
            <a:ext cx="1463040" cy="457200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畢業規則模組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2788920"/>
            <a:ext cx="1463040" cy="457200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指修條件判斷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788920"/>
            <a:ext cx="1463040" cy="457200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推薦邏輯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2788920"/>
            <a:ext cx="1463040" cy="457200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788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快取機制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3383280"/>
            <a:ext cx="0" cy="365760"/>
          </a:xfrm>
          <a:prstGeom prst="line">
            <a:avLst/>
          </a:prstGeom>
          <a:noFill/>
          <a:ln w="12700">
            <a:solidFill>
              <a:srgbClr val="2D29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211E1B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1463040" cy="457200"/>
          </a:xfrm>
          <a:prstGeom prst="rect">
            <a:avLst/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Notion Database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3120" y="4160520"/>
            <a:ext cx="1463040" cy="457200"/>
          </a:xfrm>
          <a:prstGeom prst="rect">
            <a:avLst/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個人修課紀錄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49040" y="4160520"/>
            <a:ext cx="1463040" cy="457200"/>
          </a:xfrm>
          <a:prstGeom prst="rect">
            <a:avLst/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畢業審查總覽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4160520"/>
            <a:ext cx="1463040" cy="457200"/>
          </a:xfrm>
          <a:prstGeom prst="rect">
            <a:avLst/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4160520"/>
            <a:ext cx="1463040" cy="457200"/>
          </a:xfrm>
          <a:prstGeom prst="rect">
            <a:avLst/>
          </a:prstGeom>
          <a:solidFill>
            <a:srgbClr val="16A34A">
              <a:alpha val="1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.env 設定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solidFill>
            <a:srgbClr val="16A34A">
              <a:alpha val="1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實作與成果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核心功能完成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023360" cy="5943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Notion API 全串接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733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Rollup、Relation 欄位讀取，含快取機制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75688"/>
            <a:ext cx="4023360" cy="5943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75688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21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學分比對引擎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系必修48、管院共構12、系選修42學分自動比對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79776"/>
            <a:ext cx="4023360" cy="5943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79776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25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五大頁面完成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081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首頁、儀表板、修課明細、AI顧問、模擬選課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83864"/>
            <a:ext cx="4023360" cy="5943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83864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29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通識課程分類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7856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全人/英文/核心/多元/體育分組顯示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87952"/>
            <a:ext cx="4023360" cy="59436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187952"/>
            <a:ext cx="457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33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選課建議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897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依缺修學分類型推薦，支援 OpenAI 對話介面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868680"/>
            <a:ext cx="4160520" cy="393192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畢業門檻達成數據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系訂必修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0060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門必修課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1984248"/>
            <a:ext cx="3840480" cy="109728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1984248"/>
            <a:ext cx="2765146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管院共構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2258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00600" y="25328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門：統計、會計等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2779776"/>
            <a:ext cx="3840480" cy="109728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779776"/>
            <a:ext cx="288036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054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系選修（本系）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89520" y="30540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800600" y="33284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 30 學分（含多領域）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575304"/>
            <a:ext cx="3840480" cy="109728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3575304"/>
            <a:ext cx="384048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3849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畢業總學分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89520" y="38496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800600" y="41239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含通識、體育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0600" y="4370832"/>
            <a:ext cx="3840480" cy="109728"/>
          </a:xfrm>
          <a:prstGeom prst="rect">
            <a:avLst/>
          </a:prstGeom>
          <a:solidFill>
            <a:srgbClr val="2A2522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4370832"/>
            <a:ext cx="614477" cy="109728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遭遇困難與解決方案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5720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149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0058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Notion Rollup 學分讀取失敗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3624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136245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改為同時支援 Number 和 Rollup 兩種格式，先嘗試 Rollup 再 fallback 至 Number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64792"/>
            <a:ext cx="45720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8196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課程名稱含 Notion Bold 標記（** **）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16712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_parse_page() 中加入 .strip('*').strip() 清除首尾星號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69464"/>
            <a:ext cx="45720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62432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6151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st.page_link 在 iframe 內無法導航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9718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80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Sidebar 從 iframe 移出，改用 Streamlit 原生 st.sidebar 處理導航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374136"/>
            <a:ext cx="45720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4290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34198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Sidebar 重新整理後消失（CSS session_state）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77647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7764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將完整 CSS 直接內嵌在每個子頁面，不依賴 session_state 跨頁傳遞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78808"/>
            <a:ext cx="45720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23367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" y="42245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系選修門檻計算錯誤（設定49但實際48）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458114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58114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逐一驗算 PDF 課表，確認 REQUIRED_CREDITS=48，並修正各課程學分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專題成果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25603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53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3167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成功串接 Notion API，自動讀取修課紀錄，取代人工輸入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25603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9751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依照 114 入學正式課程架構實作完整畢業審查邏輯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25603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633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完成五大功能頁面，UI/UX 達到可 Demo 水準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28416"/>
            <a:ext cx="25603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328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選課顧問可依缺修類型提供個人化建議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86784"/>
            <a:ext cx="25603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986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950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通識課程自動依全人/英文/核心/多元/體育分類展示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160520" cy="393192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未來擴充方向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8032" y="1536192"/>
            <a:ext cx="146304" cy="146304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成績單 OCR：AI 掃描成績單自動轉 Notion 格式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28032" y="2029968"/>
            <a:ext cx="146304" cy="146304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19568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多學年版本：支援 112/113 入學課程規則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28032" y="2523744"/>
            <a:ext cx="146304" cy="146304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47488" y="2450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學號驗證與隱私保護機制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3017520"/>
            <a:ext cx="146304" cy="146304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47488" y="29443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班級統計後台（教師管理視角）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3511296"/>
            <a:ext cx="146304" cy="146304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47488" y="34381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缺修提醒通知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4005072"/>
            <a:ext cx="146304" cy="146304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47488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部署至 Streamlit Cloud 公開使用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7534E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solidFill>
            <a:srgbClr val="2A2522"/>
          </a:solidFill>
          <a:ln w="6350">
            <a:solidFill>
              <a:srgbClr val="5753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專案結構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023360" cy="3474720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graduation_system/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app.py              # 首頁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requirements.txt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.env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utils/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data.py         # 核心邏輯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pages/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├── 1_dashboard.py  # 儀表板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├── 2_courses.py    # 修課明細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├── 3_ai_advisor.py # AI顧問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4_simulate.py   # 模擬選課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顧問會議記錄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60520" cy="62179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26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2026/04/28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97880" y="14264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系統架構可行性討論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6916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Notion API 架構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084832"/>
            <a:ext cx="4160520" cy="62179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396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2026/04/29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97880" y="21396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系統優化方向確認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40487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強化 UI/UX 與 AI 實用性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798064"/>
            <a:ext cx="4160520" cy="621792"/>
          </a:xfrm>
          <a:prstGeom prst="rect">
            <a:avLst/>
          </a:prstGeom>
          <a:solidFill>
            <a:srgbClr val="211E1B"/>
          </a:solidFill>
          <a:ln w="6350">
            <a:solidFill>
              <a:srgbClr val="2D29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852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2026/04/29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97880" y="2852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最終驗收確認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11810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系統達可驗收階段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使用技術版本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≥ 1.40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3.13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645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 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913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API  2022-06-28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gpt-4o-mini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5143500"/>
          </a:xfrm>
          <a:prstGeom prst="rect">
            <a:avLst/>
          </a:prstGeom>
          <a:solidFill>
            <a:srgbClr val="1A16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4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4572000" cy="0"/>
          </a:xfrm>
          <a:prstGeom prst="line">
            <a:avLst/>
          </a:prstGeom>
          <a:noFill/>
          <a:ln w="6350">
            <a:solidFill>
              <a:srgbClr val="2D29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478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B1344061 王馨卉  ·  B1344062 楊沁璇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753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長庚大學 資訊管理學系  |  114 入學  | 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462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A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AUDIT SYSTEM  ·  Powered by Notion API  ·  Streamlit  · 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畢業初審系統 期末報告</dc:title>
  <dc:subject>PptxGenJS Presentation</dc:subject>
  <dc:creator>PptxGenJS</dc:creator>
  <cp:lastModifiedBy>PptxGenJS</cp:lastModifiedBy>
  <cp:revision>1</cp:revision>
  <dcterms:created xsi:type="dcterms:W3CDTF">2026-05-16T09:00:56Z</dcterms:created>
  <dcterms:modified xsi:type="dcterms:W3CDTF">2026-05-16T09:00:56Z</dcterms:modified>
</cp:coreProperties>
</file>